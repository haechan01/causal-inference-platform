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26280"/>
            <a:ext cx="8686800" cy="61722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601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Studio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31520" y="2176272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B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Causal Inference Methods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B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Observational Research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182112"/>
            <a:ext cx="3657600" cy="0"/>
          </a:xfrm>
          <a:prstGeom prst="line">
            <a:avLst/>
          </a:prstGeom>
          <a:noFill/>
          <a:ln w="3175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832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Haechan   ·   Capstone Oral Defense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CausAl Studio at a Glance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6675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no-code guided platform for causal inference — upload data, configure a study design, run analysis, get AI interpretation with reproducible Python, R, and Stata code.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4300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43000"/>
            <a:ext cx="2651760" cy="64008"/>
          </a:xfrm>
          <a:prstGeom prst="rect">
            <a:avLst/>
          </a:prstGeom>
          <a:solidFill>
            <a:srgbClr val="D1D9E6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Difference-in-Differences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fixed effects regression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standard errors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study &amp; parallel trends test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adoption detection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1143000"/>
            <a:ext cx="2651760" cy="370332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4300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Discontinuity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64992" y="20116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and fuzzy RD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bandwidth selection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&amp; placebo cutoff tests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sensitivity analysis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64992" y="4443984"/>
            <a:ext cx="10241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44439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16752" y="1143000"/>
            <a:ext cx="2651760" cy="370332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16752" y="1143000"/>
            <a:ext cx="265176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1344" y="12801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Instrumental Variables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81344" y="2011680"/>
            <a:ext cx="237744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least squares (2SLS)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endogenous variables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Stock-Yogo instrument strength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Sargan-Hansen &amp; Wu-Hausman tests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4443984"/>
            <a:ext cx="10241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1344" y="4443984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Discontinuity —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is assigned by crossing a threshold on a continuous running variable. Units just below and above the cutoff are nearly identical — the threshold creates local quasi-randomization.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181051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11480" y="202996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threshold fully determines treatment. The causal effect is the discontinuous jump in outcomes at the cutoff, estimated by comparing local polynomial fits on each side.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81635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RD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303580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the threshold raises the probability of treatment without guaranteeing it. CausAl Studio estimates the LATE via the Wald ratio: the jump in outcomes divided by the jump in treatment receipt.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82219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Assumption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11480" y="4041648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outcomes must vary smoothly through the cutoff. Nothing else can change discontinuously at that exact threshold — no coincident policies, no sorting.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4407408"/>
            <a:ext cx="3767328" cy="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4095681"/>
            <a:ext cx="329184" cy="311727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3846299"/>
            <a:ext cx="329184" cy="561109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32120" y="3596917"/>
            <a:ext cx="329184" cy="810491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3347535"/>
            <a:ext cx="329184" cy="1059873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098153"/>
            <a:ext cx="329184" cy="1309255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777240"/>
            <a:ext cx="0" cy="3630168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263640" y="713232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29400" y="2287663"/>
            <a:ext cx="329184" cy="2119745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>
                <a:alpha val="7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95160" y="2038281"/>
            <a:ext cx="329184" cy="2369127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>
                <a:alpha val="7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60920" y="1788899"/>
            <a:ext cx="329184" cy="2618509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>
                <a:alpha val="7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1539517"/>
            <a:ext cx="329184" cy="2867891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>
                <a:alpha val="7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1290135"/>
            <a:ext cx="329184" cy="3117273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>
                <a:alpha val="7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2287663"/>
            <a:ext cx="0" cy="810491"/>
          </a:xfrm>
          <a:prstGeom prst="line">
            <a:avLst/>
          </a:prstGeom>
          <a:noFill/>
          <a:ln w="317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249174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46320" y="4572000"/>
            <a:ext cx="164592" cy="128016"/>
          </a:xfrm>
          <a:prstGeom prst="rect">
            <a:avLst/>
          </a:prstGeom>
          <a:solidFill>
            <a:srgbClr val="1B3254">
              <a:alpha val="75000"/>
            </a:srgbClr>
          </a:solidFill>
          <a:ln w="12700">
            <a:solidFill>
              <a:srgbClr val="1B3254">
                <a:alpha val="7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45628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cutoff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55080" y="4572000"/>
            <a:ext cx="164592" cy="128016"/>
          </a:xfrm>
          <a:prstGeom prst="rect">
            <a:avLst/>
          </a:prstGeom>
          <a:solidFill>
            <a:srgbClr val="0891B2">
              <a:alpha val="75000"/>
            </a:srgbClr>
          </a:solidFill>
          <a:ln w="12700">
            <a:solidFill>
              <a:srgbClr val="0891B2">
                <a:alpha val="7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56248" y="4562856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cutoff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Discontinuity — Implementation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4572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509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Polynomial Regression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1673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polynomials fitted on each side of the cutoff using triangular kernel weights — observations closer to the threshold receive more weight. Treatment effect = difference in intercepts at the cutoff.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4572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50976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Imbens-Kalyanaraman Bandwidth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316736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bandwidth selected automatically using the IK (2012) MSE-minimising procedure, balancing bias and variance. Users can override and adjust manually to assess robustness.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16352"/>
            <a:ext cx="45720" cy="18288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443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HC2 Robust Standard 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via weighted least squares with HC2 heteroskedasticity-robust covariance. Appropriate for local estimation where homoskedasticity is not assumed near the boundary.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2816352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816352"/>
            <a:ext cx="45720" cy="18288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44368"/>
            <a:ext cx="3794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 &amp; Fuzzy Estimation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310128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RD: intercept gap from two WLS regressions. Fuzzy RD: Wald ratio of reduced form over first stage, with delta method standard errors. Both support polynomial order selection.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 Discontinuity — Testing Assumptions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27066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270662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96926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Density Test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30352" y="1371600"/>
            <a:ext cx="2450592" cy="219456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716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manipulation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30352" y="1682496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linear regressions fitted to binned running-variable counts on each side of the cutoff. A significant discontinuity in density at the threshold is evidence that units are sorting — violating the continuity assumption.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47872"/>
            <a:ext cx="2706624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358444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Z-stat + p-value reported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18688" y="822960"/>
            <a:ext cx="27066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822960"/>
            <a:ext cx="2706624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96926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Placebo Cutoff Test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3383280" y="1371600"/>
            <a:ext cx="2450592" cy="219456"/>
          </a:xfrm>
          <a:prstGeom prst="rect">
            <a:avLst/>
          </a:prstGeom>
          <a:solidFill>
            <a:srgbClr val="0891B2">
              <a:alpha val="15000"/>
            </a:srgbClr>
          </a:solidFill>
          <a:ln w="12700">
            <a:solidFill>
              <a:srgbClr val="0891B2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3716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spurious effects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83280" y="1682496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RD estimator is re-run at 20 fake cutoffs placed away from the true threshold. Under the continuity assumption, no discontinuities should appear elsewhere. The pseudo p-value is the fraction of placebo effects larger than the real one.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18688" y="3547872"/>
            <a:ext cx="2706624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58444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 p-value + pass/fail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822960"/>
            <a:ext cx="2706624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822960"/>
            <a:ext cx="2706624" cy="6400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96926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Bandwidth Sensitivity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236208" y="1371600"/>
            <a:ext cx="2450592" cy="219456"/>
          </a:xfrm>
          <a:prstGeom prst="rect">
            <a:avLst/>
          </a:prstGeom>
          <a:solidFill>
            <a:srgbClr val="1B3254">
              <a:alpha val="15000"/>
            </a:srgbClr>
          </a:solidFill>
          <a:ln w="12700">
            <a:solidFill>
              <a:srgbClr val="1B3254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371600"/>
            <a:ext cx="2450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36208" y="1682496"/>
            <a:ext cx="24505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effect re-estimated across a grid of 20 bandwidths from 0.3× to 2.5× the IK optimal value. Stable estimates across this range increase confidence in the finding; large swings signal fragility.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71616" y="3547872"/>
            <a:ext cx="2706624" cy="475488"/>
          </a:xfrm>
          <a:prstGeom prst="rect">
            <a:avLst/>
          </a:prstGeom>
          <a:solidFill>
            <a:srgbClr val="F4F7FB"/>
          </a:solidFill>
          <a:ln w="12700">
            <a:solidFill>
              <a:srgbClr val="D1D9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36208" y="3584448"/>
            <a:ext cx="2450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classified: high / moderate / unstable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Instrumental Variables —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11480" y="82296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Endogeneity Problem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133856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is biased when the treatment variable is correlated with unobserved factors that also affect the outcome — selection into treatment, reverse causality, omitted variables. The coefficient conflates the causal effect with confounding.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1480" y="2176272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IV Solution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4871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instrument is a variable that shifts treatment for reasons unrelated to anything else driving the outcome. Exploiting only that clean variation, 2SLS identifies the causal effect on compliers — the Local Average Treatment Effect (LATE).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73168" y="822960"/>
            <a:ext cx="0" cy="4069080"/>
          </a:xfrm>
          <a:prstGeom prst="line">
            <a:avLst/>
          </a:prstGeom>
          <a:noFill/>
          <a:ln w="12700">
            <a:solidFill>
              <a:srgbClr val="D1D9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822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Required Assumptions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234440"/>
            <a:ext cx="3794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234440"/>
            <a:ext cx="45720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132588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Relevance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120640" y="165506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must be correlated with the treatment. Tested via first-stage F-statistic.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0" y="2148840"/>
            <a:ext cx="3794760" cy="256032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1488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 testable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37760" y="2468880"/>
            <a:ext cx="3794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468880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5603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Exclusion Restriction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120640" y="288950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must affect the outcome only through the treatment — no direct pathway.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37760" y="3383280"/>
            <a:ext cx="3794760" cy="25603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3832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theoretical justification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37760" y="3703320"/>
            <a:ext cx="37947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3703320"/>
            <a:ext cx="45720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20640" y="379476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Monotonicity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120640" y="4123944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shifts treatment in the same direction for all units — no defiers.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4617720"/>
            <a:ext cx="3794760" cy="256032"/>
          </a:xfrm>
          <a:prstGeom prst="rect">
            <a:avLst/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3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46177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theoretical justification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Instrumental Variables — Two-Stage Least Squares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749040" cy="233172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374904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— First Stage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each endogenous variable on all excluded instruments and controls.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predicted values  D̂  that contain only the exogenous variation induced by the instruments.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A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F-statistic reported per endogenous variable.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0" y="18288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5029200" y="1005840"/>
            <a:ext cx="3749040" cy="2331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1005840"/>
            <a:ext cx="3749040" cy="64008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097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— Structural Equation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15087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 the outcome on the fitted values  D̂  from Stage 1, plus all controls.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0848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2SLS coefficient = Local Average Treatment Effect (LATE) — the causal effect for compliers whose treatment was moved by the instrument.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547872"/>
            <a:ext cx="84124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47872"/>
            <a:ext cx="45720" cy="12984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6301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Endogenous Variables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66928" y="393192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Studio supports more than one endogenous variable simultaneously — each paired with its own excluded instrument. </a:t>
            </a:r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condition is enforced: number of instruments must be at least equal to the number of endogenous variables.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Instrumental Variables — Diagnostic Tests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4572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32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 Strength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3794760" cy="20116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First-stage F vs Stock-Yogo (2005)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536192"/>
            <a:ext cx="3794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F-statistic for each endogenous variable is benchmarked against Stock-Yogo (2005) critical values. A warning is shown when the threshold is not met — weak instruments bias 2SLS toward OLS and inflate size.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841248"/>
            <a:ext cx="4572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326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Endogeneity Test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46320" y="1280160"/>
            <a:ext cx="3794760" cy="201168"/>
          </a:xfrm>
          <a:prstGeom prst="rect">
            <a:avLst/>
          </a:prstGeom>
          <a:solidFill>
            <a:srgbClr val="0891B2">
              <a:alpha val="12000"/>
            </a:srgbClr>
          </a:solidFill>
          <a:ln w="12700">
            <a:solidFill>
              <a:srgbClr val="0891B2">
                <a:alpha val="3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2801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Wu-Hausman procedure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536192"/>
            <a:ext cx="3794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the treatment is actually endogenous. Failure to reject (p &gt; 0.05) suggests OLS may be consistent; the results panel flags this. If endogeneity cannot be established, the case for IV weakens.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85292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52928"/>
            <a:ext cx="45720" cy="18288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44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Overidentification Test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794760" cy="201168"/>
          </a:xfrm>
          <a:prstGeom prst="rect">
            <a:avLst/>
          </a:prstGeom>
          <a:solidFill>
            <a:srgbClr val="1B3254">
              <a:alpha val="12000"/>
            </a:srgbClr>
          </a:solidFill>
          <a:ln w="12700">
            <a:solidFill>
              <a:srgbClr val="1B3254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91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Sargan-Hansen J-test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547872"/>
            <a:ext cx="3794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Applicable when instruments outnumber endogenous variables. Regresses 2SLS residuals on all instruments; J = n·R². Rejection suggests at least one instrument may violate the exclusion restriction. Not available in just-identified models.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852928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852928"/>
            <a:ext cx="45720" cy="1828800"/>
          </a:xfrm>
          <a:prstGeom prst="rect">
            <a:avLst/>
          </a:prstGeom>
          <a:solidFill>
            <a:srgbClr val="1B3254"/>
          </a:solidFill>
          <a:ln w="12700">
            <a:solidFill>
              <a:srgbClr val="1B32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443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2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Analysis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291840"/>
            <a:ext cx="3794760" cy="201168"/>
          </a:xfrm>
          <a:prstGeom prst="rect">
            <a:avLst/>
          </a:prstGeom>
          <a:solidFill>
            <a:srgbClr val="1B3254">
              <a:alpha val="12000"/>
            </a:srgbClr>
          </a:solidFill>
          <a:ln w="12700">
            <a:solidFill>
              <a:srgbClr val="1B3254">
                <a:alpha val="3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9184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32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46320" y="3547872"/>
            <a:ext cx="3794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Just-identified: Anderson-Rubin 95% CI, valid even under weak instruments. Overidentified: leave-one-out re-estimation dropping each primary instrument in turn — checks whether any single instrument drives the result.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26280"/>
            <a:ext cx="8686800" cy="617220"/>
          </a:xfrm>
          <a:prstGeom prst="rect">
            <a:avLst/>
          </a:prstGeom>
          <a:solidFill>
            <a:srgbClr val="0891B2">
              <a:alpha val="18000"/>
            </a:srgbClr>
          </a:solidFill>
          <a:ln w="12700">
            <a:solidFill>
              <a:srgbClr val="0891B2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3657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987552"/>
            <a:ext cx="77724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188720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114300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causal inference methods — DiD, RD, and IV — in a single guided, no-code workflow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1938528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938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15568" y="18928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assumption testing automated: parallel trends, density test, placebo cutoffs, Wu-Hausman, Sargan-Hansen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2688336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64261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interpretation of results with reproducible Python, R, and Stata code export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292608" cy="29260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15568" y="339242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endogenous variables in 2SLS and sharp/fuzzy RD — handling realistic research designs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31520" y="4096512"/>
            <a:ext cx="7772400" cy="347472"/>
          </a:xfrm>
          <a:prstGeom prst="rect">
            <a:avLst/>
          </a:prstGeom>
          <a:solidFill>
            <a:srgbClr val="0D264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4105656"/>
            <a:ext cx="7516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BC4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staggered DiD detects cohorts and warns about TWFE bias, but Callaway-Sant'Anna estimators are not yet implemented.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 Studio — Capstone Defense</dc:title>
  <dc:subject>PptxGenJS Presentation</dc:subject>
  <dc:creator>Haechan</dc:creator>
  <cp:lastModifiedBy>Haechan</cp:lastModifiedBy>
  <cp:revision>1</cp:revision>
  <dcterms:created xsi:type="dcterms:W3CDTF">2026-03-04T12:40:46Z</dcterms:created>
  <dcterms:modified xsi:type="dcterms:W3CDTF">2026-03-04T12:40:46Z</dcterms:modified>
</cp:coreProperties>
</file>